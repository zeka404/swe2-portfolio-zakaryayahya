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1" r:id="rId7"/>
    <p:sldId id="267" r:id="rId8"/>
    <p:sldId id="262" r:id="rId9"/>
    <p:sldId id="263" r:id="rId10"/>
    <p:sldId id="268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402F-0C02-599C-936F-827A677AA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6A825-0ECD-BEA0-4D3F-BCEEFAAA4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2A4BE-A200-506A-A7DD-A87E3BFF1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46091-45B2-491F-4B3A-17335BFF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782E-EC43-4A98-EE08-EDBD2967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21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B20F-557D-429F-17D2-31C77766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53DA-ECDA-0D46-9E93-482F6A069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3FD93-F076-6C91-16CC-7F23629B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00E5-D8F7-BB63-DCE9-C8B2E8CD9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4120-7DD5-C18C-A4A8-62F8E47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07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7B4C-507A-B58E-DE35-7AA52614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02066-90FE-55DB-CF35-0DFE54704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62A0-DFDC-2D09-C015-2234F5E9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FDD61-DC13-4237-08D2-BB1B663B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1668-3285-B95D-D55A-2F099104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B5AB-85C6-1B6F-2925-EE988720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53AC2-08D9-32CF-E9D2-4925CE45D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C27027-EBDA-2AB2-BFA4-BE6085A38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C46E9-38F8-DF38-2C2B-29B7AABC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B64D7-9FB6-3B7B-1A0B-9472A025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4B6B9-3EDD-885C-B367-AF1EE584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2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BE2C-6EDE-C6E0-A225-7216EB3B0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EBC7F-AF84-3147-ADC8-0F0CAD2D9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D4817-4F36-927A-A72D-313818791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8390C9-73CA-82F2-4800-B1275A589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2A721-81D4-BD09-036E-2974DC768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55EFA-4030-52E5-D979-16DF804F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42CE3-A34E-1EAF-6A19-59D6CF1A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B4822-A446-AD3C-DB3E-EA5D1B35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59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133A-6561-FB8D-9909-BC625E03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8B6CFF-2778-93C7-399D-D46878BA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BBE12-7116-3CD3-D9D5-FF07817E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2815E-15E6-FBDD-EECA-75604F522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7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ED9B7-0242-F3DB-9E79-0C4EBC26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D0D76-45A6-392A-3026-5ECBE457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E87A1-D7DB-A52B-884E-217CFA02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38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51DC-E317-4871-6526-D005A5F9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D0FB9-2724-D5EF-19FB-164A7DD03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4CC24-F6EE-6B5B-6B53-DC3752A86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20095-1ECE-83A2-5166-C489BB2DF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39AFA-2CF8-99E0-FF5D-F3065E4F0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6F664-3B8A-F11D-3C79-067C9730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4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FF7E-AC5C-FB78-C726-93F03E0D9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A0433-58FA-36F3-ED2C-CC6F83347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61C48-7173-DE4F-9DA6-E06FBCFF3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06FA0-BCBD-03DF-7245-C6ED19BB9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F99D5-38EE-14DB-38EE-3D20CF94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DF511-56DA-CCF0-E695-306D80D4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84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4CEB-6AD6-8DCC-B9EC-F030CE89F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570A5-8EFF-D723-605F-233BD4C03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2C592-978E-35F8-6D6A-DD353D1D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78391-AACC-4F80-E5E6-D16B32FC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8EDE0-8A97-5168-EB64-7F3A11BB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3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C5ADDB-836A-D73A-63B9-604E134D8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D1DEF-2C70-C9B2-8992-92A9BBEEE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1A004-DB29-5601-5496-640ECF037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22B43-89E6-4F70-8ED7-CACA4F66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52FC3-B311-BCC8-AED4-009CF92C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57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AC83F-E3CF-D3AF-8881-04764BD6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52AA3-DD1E-16C2-26C9-59282DEC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83D3F-C6F7-6B42-C23A-59E764486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0EEDC-407D-4668-B509-8E4599A7CA4C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880A3-F2B7-1E93-A4EE-6DFE79D7D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CF508-F43F-C6FE-0D59-A1C061DDD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762B7-51C2-455E-B5C0-A424F30C1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7ED5B3-A256-DF0A-152A-E3E4A30B0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Testing Overview</a:t>
            </a:r>
          </a:p>
        </p:txBody>
      </p:sp>
    </p:spTree>
    <p:extLst>
      <p:ext uri="{BB962C8B-B14F-4D97-AF65-F5344CB8AC3E}">
        <p14:creationId xmlns:p14="http://schemas.microsoft.com/office/powerpoint/2010/main" val="2959640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2D4735-6E80-B812-658B-4F202F8F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17EE4A-FE47-B58A-BCCF-632AAA895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Unit Testing is the process of testing individual functions or components in isolation to ensure each part of the code works correctly.</a:t>
            </a:r>
          </a:p>
          <a:p>
            <a:r>
              <a:rPr lang="en-US" b="1" dirty="0"/>
              <a:t>When it is used:</a:t>
            </a:r>
            <a:endParaRPr lang="en-US" dirty="0"/>
          </a:p>
          <a:p>
            <a:r>
              <a:rPr lang="en-US" dirty="0"/>
              <a:t>To validate the correctness of a single function/class.</a:t>
            </a:r>
          </a:p>
          <a:p>
            <a:r>
              <a:rPr lang="en-US" dirty="0"/>
              <a:t>To detect bugs early.</a:t>
            </a:r>
          </a:p>
          <a:p>
            <a:r>
              <a:rPr lang="en-US" dirty="0"/>
              <a:t>To ensure code stability after changes (Regression Testing).</a:t>
            </a:r>
          </a:p>
        </p:txBody>
      </p:sp>
    </p:spTree>
    <p:extLst>
      <p:ext uri="{BB962C8B-B14F-4D97-AF65-F5344CB8AC3E}">
        <p14:creationId xmlns:p14="http://schemas.microsoft.com/office/powerpoint/2010/main" val="2130166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7AD57-0255-FAB1-7587-C92CFD1F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tools &amp; languages: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ED40ECC1-FA5C-2509-18C4-3864C4A97A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166081"/>
              </p:ext>
            </p:extLst>
          </p:nvPr>
        </p:nvGraphicFramePr>
        <p:xfrm>
          <a:off x="838200" y="1690688"/>
          <a:ext cx="10515600" cy="435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98876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0674280"/>
                    </a:ext>
                  </a:extLst>
                </a:gridCol>
              </a:tblGrid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UNIT TESTING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8114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 err="1"/>
                        <a:t>Unitttest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Pytest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70147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JUnit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643594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Google test (</a:t>
                      </a:r>
                      <a:r>
                        <a:rPr lang="en-US" dirty="0" err="1"/>
                        <a:t>gtest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919260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Jest , mocha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Javascript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420668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 err="1"/>
                        <a:t>Phpunit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77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912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06FD-7918-E224-784D-6F56CC78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r>
              <a:rPr lang="ar-EG" b="1" dirty="0"/>
              <a:t> </a:t>
            </a:r>
            <a:r>
              <a:rPr lang="en-US" b="1" dirty="0"/>
              <a:t>and Disadvantages</a:t>
            </a:r>
            <a:r>
              <a:rPr lang="ar-EG" b="1" dirty="0"/>
              <a:t>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7AE31-7816-20B5-0F7C-E8E4A5A64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r>
              <a:rPr lang="en-US" sz="4400" b="1" u="sng" dirty="0"/>
              <a:t>Advantages of Unit Testing</a:t>
            </a:r>
          </a:p>
          <a:p>
            <a:r>
              <a:rPr lang="en-US" dirty="0"/>
              <a:t>Tests individual functions or classes in isolation.</a:t>
            </a:r>
          </a:p>
          <a:p>
            <a:r>
              <a:rPr lang="en-US" dirty="0"/>
              <a:t>Helps detect bugs early in the development phase.</a:t>
            </a:r>
          </a:p>
          <a:p>
            <a:r>
              <a:rPr lang="en-US" dirty="0"/>
              <a:t>Makes debugging easier because the error location is clear.</a:t>
            </a:r>
          </a:p>
          <a:p>
            <a:r>
              <a:rPr lang="en-US" dirty="0"/>
              <a:t>Improves code quality and design.</a:t>
            </a:r>
          </a:p>
          <a:p>
            <a:r>
              <a:rPr lang="en-US" dirty="0"/>
              <a:t>Encourages writing modular and reusable code.</a:t>
            </a:r>
          </a:p>
          <a:p>
            <a:r>
              <a:rPr lang="en-US" dirty="0"/>
              <a:t>Tests run very fast.</a:t>
            </a:r>
          </a:p>
          <a:p>
            <a:r>
              <a:rPr lang="en-US" dirty="0"/>
              <a:t>Reduces the cost of fixing bugs later.</a:t>
            </a:r>
          </a:p>
          <a:p>
            <a:r>
              <a:rPr lang="en-US" sz="4400" b="1" u="sng" dirty="0"/>
              <a:t> Disadvantages of Unit Testing</a:t>
            </a:r>
          </a:p>
          <a:p>
            <a:r>
              <a:rPr lang="en-US" dirty="0"/>
              <a:t>Does not test the interaction between different modules.</a:t>
            </a:r>
          </a:p>
          <a:p>
            <a:r>
              <a:rPr lang="en-US" dirty="0"/>
              <a:t>Cannot detect integration issues.</a:t>
            </a:r>
          </a:p>
          <a:p>
            <a:r>
              <a:rPr lang="en-US" dirty="0"/>
              <a:t>Requires extra time to write and maintain test cases.</a:t>
            </a:r>
          </a:p>
          <a:p>
            <a:r>
              <a:rPr lang="en-US" dirty="0"/>
              <a:t>Poorly written unit tests may give a false sense of security.</a:t>
            </a:r>
          </a:p>
          <a:p>
            <a:r>
              <a:rPr lang="en-US" dirty="0"/>
              <a:t>Depends heavily on good test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8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4739-4E72-7A3B-0A98-DCE72AB1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C8191-CE1E-F08D-5A50-DF6D60469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Integration Testing checks how different modules or components work together after they are combined.</a:t>
            </a:r>
          </a:p>
          <a:p>
            <a:r>
              <a:rPr lang="en-US" b="1" dirty="0"/>
              <a:t>When it is used:</a:t>
            </a:r>
            <a:endParaRPr lang="en-US" dirty="0"/>
          </a:p>
          <a:p>
            <a:r>
              <a:rPr lang="en-US" dirty="0"/>
              <a:t>To ensure the data flow between modules works properly.</a:t>
            </a:r>
          </a:p>
          <a:p>
            <a:r>
              <a:rPr lang="en-US" dirty="0"/>
              <a:t>To detect interface issues between classes, APIs, or databases.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9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A61CA-20CB-D655-6166-CF991E10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A4D3-5B47-6339-9779-AEAEA03A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tools &amp; languages: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F3832241-F11B-3D5D-D310-54C04A7161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658135"/>
              </p:ext>
            </p:extLst>
          </p:nvPr>
        </p:nvGraphicFramePr>
        <p:xfrm>
          <a:off x="838200" y="1690688"/>
          <a:ext cx="10515600" cy="435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98876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0674280"/>
                    </a:ext>
                  </a:extLst>
                </a:gridCol>
              </a:tblGrid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UNIT TESTING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8114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 err="1"/>
                        <a:t>Unitttest</a:t>
                      </a:r>
                      <a:r>
                        <a:rPr lang="en-US" dirty="0"/>
                        <a:t> , </a:t>
                      </a:r>
                      <a:r>
                        <a:rPr lang="en-US" dirty="0" err="1"/>
                        <a:t>pytest</a:t>
                      </a:r>
                      <a:r>
                        <a:rPr lang="en-US" dirty="0"/>
                        <a:t> +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70147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TestNG, REST Assured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643594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 err="1"/>
                        <a:t>MSTest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NUnit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919260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Cypress, Playwright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Javascript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420668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Postman (API Testing)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770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76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47EC-8371-9DBA-AE17-7316E682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r>
              <a:rPr lang="ar-EG" b="1" dirty="0"/>
              <a:t> </a:t>
            </a:r>
            <a:r>
              <a:rPr lang="en-US" b="1" dirty="0"/>
              <a:t>and Disadvantages</a:t>
            </a:r>
            <a:r>
              <a:rPr lang="ar-EG" b="1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7B7E2-4768-7FF6-02E5-643445B10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1652"/>
          </a:xfrm>
        </p:spPr>
        <p:txBody>
          <a:bodyPr>
            <a:normAutofit fontScale="85000" lnSpcReduction="20000"/>
          </a:bodyPr>
          <a:lstStyle/>
          <a:p>
            <a:r>
              <a:rPr lang="en-US" sz="3100" b="1" u="sng" dirty="0"/>
              <a:t>Advantages of Integration Testing</a:t>
            </a:r>
          </a:p>
          <a:p>
            <a:r>
              <a:rPr lang="en-US" dirty="0"/>
              <a:t>Tests the interaction between different modules or components.</a:t>
            </a:r>
          </a:p>
          <a:p>
            <a:r>
              <a:rPr lang="en-US" dirty="0"/>
              <a:t>Helps detect interface and communication errors.</a:t>
            </a:r>
          </a:p>
          <a:p>
            <a:r>
              <a:rPr lang="en-US" dirty="0"/>
              <a:t>Ensures that combined units work correctly together.</a:t>
            </a:r>
          </a:p>
          <a:p>
            <a:r>
              <a:rPr lang="en-US" dirty="0"/>
              <a:t>Finds issues that unit testing cannot detect.</a:t>
            </a:r>
          </a:p>
          <a:p>
            <a:r>
              <a:rPr lang="en-US" dirty="0"/>
              <a:t>Improves overall system reliability.</a:t>
            </a:r>
          </a:p>
          <a:p>
            <a:r>
              <a:rPr lang="en-US" b="1" dirty="0"/>
              <a:t> </a:t>
            </a:r>
            <a:r>
              <a:rPr lang="en-US" sz="3100" b="1" u="sng" dirty="0"/>
              <a:t>Disadvantages of Integration Testing</a:t>
            </a:r>
          </a:p>
          <a:p>
            <a:r>
              <a:rPr lang="en-US" dirty="0"/>
              <a:t>More complex than unit testing.</a:t>
            </a:r>
          </a:p>
          <a:p>
            <a:r>
              <a:rPr lang="en-US" dirty="0"/>
              <a:t>Slower to execute compared to unit tests.</a:t>
            </a:r>
          </a:p>
          <a:p>
            <a:r>
              <a:rPr lang="en-US" dirty="0"/>
              <a:t>Harder to locate the exact source of an error.</a:t>
            </a:r>
          </a:p>
          <a:p>
            <a:r>
              <a:rPr lang="en-US" dirty="0"/>
              <a:t>Requires more setup and test environment configuration.</a:t>
            </a:r>
          </a:p>
          <a:p>
            <a:r>
              <a:rPr lang="en-US" dirty="0"/>
              <a:t>May depend on external systems or databases.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02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25F2A-5981-A6D5-BB1F-8C263FBDC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4E588-60D1-0F0A-CD25-C0A09E4C7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Performance Testing is used to measure system speed, stability, scalability, and responsiveness under different workloads.</a:t>
            </a:r>
          </a:p>
          <a:p>
            <a:r>
              <a:rPr lang="en-US" b="1" dirty="0"/>
              <a:t>When it is used:</a:t>
            </a:r>
            <a:endParaRPr lang="en-US" dirty="0"/>
          </a:p>
          <a:p>
            <a:r>
              <a:rPr lang="en-US" dirty="0"/>
              <a:t>Load testing</a:t>
            </a:r>
          </a:p>
          <a:p>
            <a:r>
              <a:rPr lang="en-US" dirty="0"/>
              <a:t>Stress testing</a:t>
            </a:r>
          </a:p>
          <a:p>
            <a:r>
              <a:rPr lang="en-US" dirty="0"/>
              <a:t>Scalability testing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287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C905-EBD5-0CAA-E648-3682D304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A878-9787-FFAB-437F-8E347ED5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tools &amp; languages:</a:t>
            </a: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229D37FA-8B1D-5E0C-BE72-CAF5B451EB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478233"/>
              </p:ext>
            </p:extLst>
          </p:nvPr>
        </p:nvGraphicFramePr>
        <p:xfrm>
          <a:off x="838200" y="1690688"/>
          <a:ext cx="10515600" cy="3630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988766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0674280"/>
                    </a:ext>
                  </a:extLst>
                </a:gridCol>
              </a:tblGrid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28114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Load &amp; stress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70147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Python-based performance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Locust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643594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High-performance load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Gatling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919260"/>
                  </a:ext>
                </a:extLst>
              </a:tr>
              <a:tr h="726025">
                <a:tc>
                  <a:txBody>
                    <a:bodyPr/>
                    <a:lstStyle/>
                    <a:p>
                      <a:r>
                        <a:rPr lang="en-US" dirty="0"/>
                        <a:t>Modern load testing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420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11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0671-CD0E-BC3E-3F1E-5ED8A4B3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r>
              <a:rPr lang="ar-EG" b="1" dirty="0"/>
              <a:t> </a:t>
            </a:r>
            <a:r>
              <a:rPr lang="en-US" b="1" dirty="0"/>
              <a:t>and Disadvantages</a:t>
            </a:r>
            <a:r>
              <a:rPr lang="ar-EG" b="1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52F21-495F-A091-8AC7-16E0256EE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sz="3100" b="1" u="sng" dirty="0"/>
              <a:t>Advantages of Performance Testing</a:t>
            </a:r>
          </a:p>
          <a:p>
            <a:r>
              <a:rPr lang="en-US" dirty="0"/>
              <a:t>Measures system speed, responsiveness, and stability.</a:t>
            </a:r>
          </a:p>
          <a:p>
            <a:r>
              <a:rPr lang="en-US" dirty="0"/>
              <a:t>Identifies bottlenecks and performance issues.</a:t>
            </a:r>
          </a:p>
          <a:p>
            <a:r>
              <a:rPr lang="en-US" dirty="0"/>
              <a:t>Ensures the system can handle expected load.</a:t>
            </a:r>
          </a:p>
          <a:p>
            <a:r>
              <a:rPr lang="en-US" dirty="0"/>
              <a:t>Improves user experience.</a:t>
            </a:r>
          </a:p>
          <a:p>
            <a:r>
              <a:rPr lang="en-US" dirty="0"/>
              <a:t>Helps prevent system crashes under heavy usage.</a:t>
            </a:r>
          </a:p>
          <a:p>
            <a:r>
              <a:rPr lang="en-US" b="1" dirty="0"/>
              <a:t> </a:t>
            </a:r>
            <a:r>
              <a:rPr lang="en-US" sz="3100" b="1" u="sng" dirty="0"/>
              <a:t>Disadvantages of Performance Testing</a:t>
            </a:r>
          </a:p>
          <a:p>
            <a:r>
              <a:rPr lang="en-US" dirty="0"/>
              <a:t>Requires specialized tools and environments.</a:t>
            </a:r>
          </a:p>
          <a:p>
            <a:r>
              <a:rPr lang="en-US" dirty="0"/>
              <a:t>Can be expensive and time-consuming.</a:t>
            </a:r>
          </a:p>
          <a:p>
            <a:r>
              <a:rPr lang="en-US" dirty="0"/>
              <a:t>Results may vary depending on test environment.</a:t>
            </a:r>
          </a:p>
          <a:p>
            <a:r>
              <a:rPr lang="en-US" dirty="0"/>
              <a:t>Needs expert knowledge to analyze results correctly.</a:t>
            </a:r>
          </a:p>
          <a:p>
            <a:r>
              <a:rPr lang="en-US" dirty="0"/>
              <a:t>Usually performed late in the development lifecycle.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826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59F8-0802-5CCA-0E29-533DD461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Testing Tools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5D1C3A-1DEF-3920-0CBC-7703A02BB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6858" y="2035762"/>
            <a:ext cx="1052685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Selenium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UI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 Framework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Automation &amp; Acceptance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Appium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Mobile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 / Newman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API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Cypress / Playwright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Frontend automation</a:t>
            </a:r>
          </a:p>
        </p:txBody>
      </p:sp>
    </p:spTree>
    <p:extLst>
      <p:ext uri="{BB962C8B-B14F-4D97-AF65-F5344CB8AC3E}">
        <p14:creationId xmlns:p14="http://schemas.microsoft.com/office/powerpoint/2010/main" val="399901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15DA-1FD7-0B68-9F06-D2E4076AB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VS manual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1191A-87AE-8F20-F893-9F4C7FCAD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1767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sz="4600" b="1" dirty="0"/>
              <a:t>Manual Testing</a:t>
            </a:r>
          </a:p>
          <a:p>
            <a:r>
              <a:rPr lang="en-US" dirty="0"/>
              <a:t>Manual testing means the developer runs the program and checks the output manually.</a:t>
            </a:r>
            <a:br>
              <a:rPr lang="en-US" dirty="0"/>
            </a:br>
            <a:r>
              <a:rPr lang="en-US" dirty="0"/>
              <a:t>Example:</a:t>
            </a:r>
          </a:p>
          <a:p>
            <a:r>
              <a:rPr lang="en-US" dirty="0"/>
              <a:t>Printing shape data</a:t>
            </a:r>
          </a:p>
          <a:p>
            <a:r>
              <a:rPr lang="en-US" dirty="0"/>
              <a:t>Checking values by eye</a:t>
            </a:r>
          </a:p>
          <a:p>
            <a:r>
              <a:rPr lang="en-US" dirty="0"/>
              <a:t>Running the program without test frameworks</a:t>
            </a:r>
          </a:p>
          <a:p>
            <a:r>
              <a:rPr lang="en-US" dirty="0"/>
              <a:t>Manual testing is </a:t>
            </a:r>
            <a:r>
              <a:rPr lang="en-US" b="1" dirty="0"/>
              <a:t>useful but error-prone and slow</a:t>
            </a:r>
            <a:r>
              <a:rPr lang="en-US" dirty="0"/>
              <a:t>.</a:t>
            </a:r>
          </a:p>
          <a:p>
            <a:r>
              <a:rPr lang="en-US" sz="4600" b="1" dirty="0"/>
              <a:t>Automated testing:</a:t>
            </a:r>
          </a:p>
          <a:p>
            <a:r>
              <a:rPr lang="en-US" dirty="0"/>
              <a:t>Runs automatically</a:t>
            </a:r>
          </a:p>
          <a:p>
            <a:r>
              <a:rPr lang="en-US" dirty="0"/>
              <a:t>Produces fast and reliable results</a:t>
            </a:r>
          </a:p>
          <a:p>
            <a:r>
              <a:rPr lang="en-US" dirty="0"/>
              <a:t>Can test many scenarios easily</a:t>
            </a:r>
          </a:p>
          <a:p>
            <a:r>
              <a:rPr lang="en-US" dirty="0"/>
              <a:t>Detects regression bugs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926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604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Software Testing Overview</vt:lpstr>
      <vt:lpstr>Unit Testing</vt:lpstr>
      <vt:lpstr>Common tools &amp; languages:</vt:lpstr>
      <vt:lpstr>Advantages and Disadvantages </vt:lpstr>
      <vt:lpstr>Integration Testing</vt:lpstr>
      <vt:lpstr>Common tools &amp; languages:</vt:lpstr>
      <vt:lpstr>Advantages and Disadvantages </vt:lpstr>
      <vt:lpstr>Performance Testing</vt:lpstr>
      <vt:lpstr>Common tools &amp; languages:</vt:lpstr>
      <vt:lpstr>Advantages and Disadvantages </vt:lpstr>
      <vt:lpstr>Automation Testing Tools</vt:lpstr>
      <vt:lpstr>Automation VS manual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AL-PRINCE Kamewis</dc:creator>
  <cp:lastModifiedBy>AL-PRINCE Kamewis</cp:lastModifiedBy>
  <cp:revision>2</cp:revision>
  <dcterms:created xsi:type="dcterms:W3CDTF">2025-12-11T17:22:07Z</dcterms:created>
  <dcterms:modified xsi:type="dcterms:W3CDTF">2025-12-13T20:05:05Z</dcterms:modified>
</cp:coreProperties>
</file>